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D5C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D5C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D1B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Train (Cat)</c:v>
                </c:pt>
                <c:pt idx="1">
                  <c:v>Train (Dog)</c:v>
                </c:pt>
                <c:pt idx="2">
                  <c:v>Val (Cat)</c:v>
                </c:pt>
                <c:pt idx="3">
                  <c:v>Val (Dog)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</c:v>
                </c:pt>
                <c:pt idx="1">
                  <c:v>10000</c:v>
                </c:pt>
                <c:pt idx="2">
                  <c:v>2500</c:v>
                </c:pt>
                <c:pt idx="3">
                  <c:v>2500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C3E5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C3E5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71e7311-46f4-4264-9d51-798342248328}"/>
      </c:ext>
    </c:extLst>
  </c:chart>
  <c:spPr>
    <a:solidFill>
      <a:srgbClr val="F4F8F7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8A9BA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A9B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BC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BC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CD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505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BA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SGD</c:v>
                </c:pt>
                <c:pt idx="2">
                  <c:v>Dropout</c:v>
                </c:pt>
                <c:pt idx="3">
                  <c:v>BatchNorm★</c:v>
                </c:pt>
                <c:pt idx="4">
                  <c:v>No Aug</c:v>
                </c:pt>
                <c:pt idx="5">
                  <c:v>RMSprop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0.867</c:v>
                </c:pt>
                <c:pt idx="1">
                  <c:v>0.885</c:v>
                </c:pt>
                <c:pt idx="2">
                  <c:v>0.885</c:v>
                </c:pt>
                <c:pt idx="3">
                  <c:v>0.887</c:v>
                </c:pt>
                <c:pt idx="4">
                  <c:v>0.805</c:v>
                </c:pt>
                <c:pt idx="5">
                  <c:v>0.842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8A9BA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2"/>
          <c:min val="0.75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8A9BA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583b262-0009-4229-b277-764aad9beb4a}"/>
      </c:ext>
    </c:extLst>
  </c:chart>
  <c:spPr>
    <a:solidFill>
      <a:srgbClr val="0D1B2A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youtu.be/lTcGDM3vsRc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A1420"/>
          </a:solidFill>
          <a:ln w="12700">
            <a:solidFill>
              <a:srgbClr val="0A142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 OF AI  —  GROUP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5720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Dogs vs. Cats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Classification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Convolutional Neural Network — Binary Classification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 Accuracy  ·  25,000 Images  ·  TensorFlow / Keras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640080"/>
            <a:ext cx="1371600" cy="13716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37160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0515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669280" y="44805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 ·  March 2025</a:t>
            </a:r>
            <a:endParaRPr lang="en-US" sz="1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82295" y="3556635"/>
            <a:ext cx="3676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</a:rPr>
              <a:t>3161013 Lyu Zhipeng   3161520 Shi Yunfeng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3161491 Yi Rongyang   3161415 Yang Sijun</a:t>
            </a:r>
            <a:endParaRPr lang="en-US" altLang="zh-CN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114800" cy="914400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Background, task definition, dataset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377440"/>
            <a:ext cx="4114800" cy="914400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45059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Approach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816352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prep, augmentation, CNN architecture, training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474720"/>
            <a:ext cx="4114800" cy="914400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54787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Evaluation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Accuracy, precision/recall, confusion matrix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1280160"/>
            <a:ext cx="4114800" cy="914400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135331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1719072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analysis, limitations, future improvements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377440"/>
            <a:ext cx="4114800" cy="914400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68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245059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2816352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 and takeaways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474720"/>
            <a:ext cx="4114800" cy="914400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566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354787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Q&amp;A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3913632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welcome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  20 min presentation  +  5 min Q&amp;A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1874520"/>
          </a:xfrm>
          <a:prstGeom prst="rect">
            <a:avLst/>
          </a:prstGeom>
          <a:solidFill>
            <a:srgbClr val="0E2535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54864" cy="18745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this project?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65760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binary image classifier that determines whether a photo contains a cat or a dog. A supervised learning task where the model maps raw pixel values to one of two labels, trained on 25,000 labelled examples.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1874520"/>
          </a:xfrm>
          <a:prstGeom prst="rect">
            <a:avLst/>
          </a:prstGeom>
          <a:solidFill>
            <a:srgbClr val="0E2535"/>
          </a:solidFill>
          <a:ln w="15240">
            <a:solidFill>
              <a:srgbClr val="3CD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34440"/>
            <a:ext cx="54864" cy="1874520"/>
          </a:xfrm>
          <a:prstGeom prst="rect">
            <a:avLst/>
          </a:prstGeom>
          <a:solidFill>
            <a:srgbClr val="3CDFBF"/>
          </a:solidFill>
          <a:ln w="12700">
            <a:solidFill>
              <a:srgbClr val="3CD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25880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is it challenging?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664208"/>
            <a:ext cx="3657600" cy="12618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Wide breed &amp; size variation, complex backgrounds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Occlusion, unusual poses, low-light conditions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Low-resolution images and label noise in dataset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2651760" cy="1170432"/>
          </a:xfrm>
          <a:prstGeom prst="rect">
            <a:avLst/>
          </a:prstGeom>
          <a:solidFill>
            <a:srgbClr val="132533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55848"/>
            <a:ext cx="26517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25,000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11480" y="391363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 in dataset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291840"/>
            <a:ext cx="2651760" cy="1170432"/>
          </a:xfrm>
          <a:prstGeom prst="rect">
            <a:avLst/>
          </a:prstGeom>
          <a:solidFill>
            <a:srgbClr val="132533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355848"/>
            <a:ext cx="26517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/ 50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91840" y="391363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 vs Dog split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291840"/>
            <a:ext cx="2651760" cy="1170432"/>
          </a:xfrm>
          <a:prstGeom prst="rect">
            <a:avLst/>
          </a:prstGeom>
          <a:solidFill>
            <a:srgbClr val="132533"/>
          </a:solidFill>
          <a:ln w="15240">
            <a:solidFill>
              <a:srgbClr val="3CD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355848"/>
            <a:ext cx="26517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172200" y="391363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accuracy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681728"/>
            <a:ext cx="1965960" cy="320040"/>
          </a:xfrm>
          <a:prstGeom prst="rect">
            <a:avLst/>
          </a:prstGeom>
          <a:solidFill>
            <a:srgbClr val="0E2535"/>
          </a:solidFill>
          <a:ln w="1016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681728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A  Data &amp; Augment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77440" y="4773168"/>
            <a:ext cx="228600" cy="12801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4681728"/>
            <a:ext cx="1965960" cy="320040"/>
          </a:xfrm>
          <a:prstGeom prst="rect">
            <a:avLst/>
          </a:prstGeom>
          <a:solidFill>
            <a:srgbClr val="0E2535"/>
          </a:solidFill>
          <a:ln w="1016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4681728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B  Baseline CNN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4773168"/>
            <a:ext cx="228600" cy="12801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4681728"/>
            <a:ext cx="1965960" cy="320040"/>
          </a:xfrm>
          <a:prstGeom prst="rect">
            <a:avLst/>
          </a:prstGeom>
          <a:solidFill>
            <a:srgbClr val="0E2535"/>
          </a:solidFill>
          <a:ln w="10160">
            <a:solidFill>
              <a:srgbClr val="1B99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4681728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C  Optimisation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66560" y="4773168"/>
            <a:ext cx="228600" cy="12801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5160" y="4681728"/>
            <a:ext cx="1965960" cy="320040"/>
          </a:xfrm>
          <a:prstGeom prst="rect">
            <a:avLst/>
          </a:prstGeom>
          <a:solidFill>
            <a:srgbClr val="0E2535"/>
          </a:solidFill>
          <a:ln w="10160">
            <a:solidFill>
              <a:srgbClr val="1B99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4681728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D  Evaluation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APPROACH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508760"/>
            <a:ext cx="694944" cy="69494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88" y="1595628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04288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97480"/>
            <a:ext cx="23317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Dogs vs. Cats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25,000 colour JPEG images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12,500 cats · 12,500 dogs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3258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508760"/>
            <a:ext cx="694944" cy="69494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1595628"/>
            <a:ext cx="521208" cy="5212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304288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2697480"/>
            <a:ext cx="23317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Filename prefix ('cat.' / 'dog.')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separate annotation file needed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Perfectly balanced classes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13258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508760"/>
            <a:ext cx="694944" cy="69494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468" y="1595628"/>
            <a:ext cx="521208" cy="5212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304288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(8:2)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0" y="2697480"/>
            <a:ext cx="23317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Train: 20,000 images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Validation: 5,000 images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splits are 50/50 balanced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11480" y="4526280"/>
          <a:ext cx="8321040" cy="41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APPROACH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Preparation &amp; Augmentation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5661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Resize all images to 150 × 150 px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 normalisation: scale [0, 255] → [0, 1]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size: 32  ·  Mode: binary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Validation: normalisation only (stable eval)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31089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24612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Augmentation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35661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rotation: up to ±40°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 &amp; vertical shift: 0.2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Shear transformation: 0.2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zoom: 0.2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horizontal flip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371600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augmentation?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379476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Cats and dogs are photographed from many angles, distances, and orientations. Applying random transforms at load time means the model sees a slightly different version of each image every epoch — effectively multiplying the dataset diversity without collecting new images.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0" y="2834640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Effect: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154680"/>
            <a:ext cx="37947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overfitting (implicit regularisation)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Improves generalisation to unseen poses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extra data collection required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4343400"/>
            <a:ext cx="3794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A84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Outputs verified with visualize_augmentation.py before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APPROACH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Architecture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11480" y="1261872"/>
          <a:ext cx="5120640" cy="36118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Layer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Output Shape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Activation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Conv2D (32, 3×3)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(148, 148, 32)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ReLU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MaxPooling2D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(74, 74, 32)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Conv2D (64, 3×3)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(72, 72, 64)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18,496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ReLU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MaxPooling2D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(36, 36, 64)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Conv2D (128, 3×3)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(34, 34, 128)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73,856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ReLU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MaxPooling2D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(17, 17, 128)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Flatten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(36,992)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Dense (512)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(512)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18,940,416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ReLU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Dense (1) — Output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(1)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513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Sigmoid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261872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5" name="Text 4"/>
          <p:cNvSpPr/>
          <p:nvPr/>
        </p:nvSpPr>
        <p:spPr>
          <a:xfrm>
            <a:off x="5760720" y="1691640"/>
            <a:ext cx="310896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3× Conv+Pool blocks extract features at increasing abstraction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 double each stage: 32 → 64 → 128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 keeps gradients stable during training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Sigmoid output maps score to probability [0,1]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0.5 → cat (0) or dog (1)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60720" y="3429000"/>
            <a:ext cx="3108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Parameters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3749040"/>
            <a:ext cx="3108960" cy="777240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3794760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~19.0 million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760720" y="4178808"/>
            <a:ext cx="3108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≈ 72.6 MB  ·  mostly in Dense (512)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APPROACH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Training Configuration (Member B)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89888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1783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84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= 0.001 (default)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261872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389888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0" y="1664208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2121408"/>
            <a:ext cx="1783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84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binary_crossentropy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261872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389888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1664208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2121408"/>
            <a:ext cx="1783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84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size = 32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0" y="1261872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1389888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49440" y="1664208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150×150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2121408"/>
            <a:ext cx="1783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84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RGB · CPU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83464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94436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310128"/>
            <a:ext cx="356616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 accuracy: 86.7%  |  Val loss: 0.304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accuracy: 88.1%  |  Train loss: 0.280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Train/val gap ~1.4% — mild overfitting signs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widens from epoch 12 onwards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 as baseline_cnn.h5  (~72.6 MB)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834640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944368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310128"/>
            <a:ext cx="379476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Dropout in Dense (512) → overfitting risk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 converges quickly but leaves room to improve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augmentation already limiting overfitting significantly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87% is solid for from-scratch CPU 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Passed to Member C for optimisation experiments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APPROACH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Optimisation Experiments (Member C)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11480" y="1261872"/>
          <a:ext cx="5212080" cy="3547872"/>
        </p:xfrm>
        <a:graphic>
          <a:graphicData uri="http://schemas.openxmlformats.org/drawingml/2006/table">
            <a:tbl>
              <a:tblPr/>
              <a:tblGrid>
                <a:gridCol w="1371600"/>
                <a:gridCol w="960120"/>
                <a:gridCol w="658368"/>
                <a:gridCol w="804672"/>
                <a:gridCol w="704088"/>
                <a:gridCol w="713232"/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Experiment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Optimiser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Dropout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BatchNorm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 Acc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 Loss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 (Baseline)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86.7%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0.304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SGD lr=0.01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SGD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88.5%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0.268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 + Dropout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88.5%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0.280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DFB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 + BatchNorm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DFB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DFB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DFB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DFB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88.7%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DFB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0.283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 (No Aug)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80.5%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1.399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RMSprop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RMSprop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84.2%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0.416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806440" y="1261872"/>
            <a:ext cx="3108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06440" y="1664208"/>
            <a:ext cx="31089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augmentation → severe overfit (acc 80.5%, loss 1.399)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SGD &amp; Dropout both reach 88.5%, beating Adam baseline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BatchNorm is the best single strategy: 88.7%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RMSprop underperforms (84.2%) on this task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06440" y="3246120"/>
            <a:ext cx="3108960" cy="1554480"/>
          </a:xfrm>
          <a:prstGeom prst="rect">
            <a:avLst/>
          </a:prstGeom>
          <a:solidFill>
            <a:srgbClr val="0A2830"/>
          </a:solidFill>
          <a:ln w="25400">
            <a:solidFill>
              <a:srgbClr val="3CDFBF"/>
            </a:solidFill>
            <a:prstDash val="solid"/>
          </a:ln>
        </p:spPr>
      </p:sp>
      <p:sp>
        <p:nvSpPr>
          <p:cNvPr id="5" name="Text 6"/>
          <p:cNvSpPr/>
          <p:nvPr/>
        </p:nvSpPr>
        <p:spPr>
          <a:xfrm>
            <a:off x="5806440" y="3319272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 Best Model Selected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3593592"/>
            <a:ext cx="31089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 + BatchNorm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806440" y="3995928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 Acc: 88.7%  ·  Val Loss: 0.283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06440" y="4251960"/>
            <a:ext cx="3108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Acc = Val Acc = 88.7%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06440" y="4480560"/>
            <a:ext cx="3108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generalisation &amp; stability</a:t>
            </a:r>
            <a:endParaRPr lang="en-US" sz="9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11480" y="4864608"/>
          <a:ext cx="5212080" cy="256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EVALUATION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Evaluation — Classification Report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1261872"/>
          <a:ext cx="4754880" cy="2286000"/>
        </p:xfrm>
        <a:graphic>
          <a:graphicData uri="http://schemas.openxmlformats.org/drawingml/2006/table">
            <a:tbl>
              <a:tblPr/>
              <a:tblGrid>
                <a:gridCol w="950976"/>
                <a:gridCol w="950976"/>
                <a:gridCol w="950976"/>
                <a:gridCol w="950976"/>
                <a:gridCol w="950976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F1-Score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Support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2,500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2,500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Macro Avg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0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5,000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Weighted Avg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BA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5,000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home/claude/classification_repo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11880"/>
            <a:ext cx="475488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983480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1: Terminal output of classification report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486400" y="1261872"/>
            <a:ext cx="3291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0" y="1691640"/>
            <a:ext cx="329184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accuracy: 89% on 5,000 validation images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= Recall = F1 = 0.89 for both classes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bias toward either false positives or negatives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Macro avg = Weighted avg (perfectly balanced split)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 gain over 87% baseline after optimisation</a:t>
            </a:r>
            <a:endParaRPr lang="en-US" sz="1150" dirty="0"/>
          </a:p>
        </p:txBody>
      </p:sp>
      <p:sp>
        <p:nvSpPr>
          <p:cNvPr id="5" name="Shape 6"/>
          <p:cNvSpPr/>
          <p:nvPr/>
        </p:nvSpPr>
        <p:spPr>
          <a:xfrm>
            <a:off x="5486400" y="3703320"/>
            <a:ext cx="3291840" cy="1097280"/>
          </a:xfrm>
          <a:prstGeom prst="rect">
            <a:avLst/>
          </a:prstGeom>
          <a:solidFill>
            <a:srgbClr val="132533"/>
          </a:solidFill>
          <a:ln w="19050">
            <a:solidFill>
              <a:srgbClr val="3CDFB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0" y="374904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5486400" y="4315968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Accuracy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EVALUATION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 Analysis</a:t>
            </a:r>
            <a:endParaRPr lang="en-US" sz="2600" dirty="0"/>
          </a:p>
        </p:txBody>
      </p:sp>
      <p:pic>
        <p:nvPicPr>
          <p:cNvPr id="5" name="Image 0" descr="/home/claude/confus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41148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709160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A84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2: Confusion matrix — 5,000 validation images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754880" y="1234440"/>
            <a:ext cx="4069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Breakdown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73736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737360"/>
            <a:ext cx="1920240" cy="1051560"/>
          </a:xfrm>
          <a:prstGeom prst="rect">
            <a:avLst/>
          </a:prstGeom>
          <a:solidFill>
            <a:srgbClr val="E8F8F5"/>
          </a:solidFill>
          <a:ln w="12700">
            <a:solidFill>
              <a:srgbClr val="D0DD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82880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A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True Cat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46320" y="208483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2,217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846320" y="2468880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84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88.7% recall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0" y="173736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0" y="1737360"/>
            <a:ext cx="1920240" cy="1051560"/>
          </a:xfrm>
          <a:prstGeom prst="rect">
            <a:avLst/>
          </a:prstGeom>
          <a:solidFill>
            <a:srgbClr val="FEF0F0"/>
          </a:solidFill>
          <a:ln w="12700">
            <a:solidFill>
              <a:srgbClr val="D0DD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182880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Cat → Dog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49440" y="208483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949440" y="2468880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84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11.3% error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0" y="297180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971800"/>
            <a:ext cx="1920240" cy="1051560"/>
          </a:xfrm>
          <a:prstGeom prst="rect">
            <a:avLst/>
          </a:prstGeom>
          <a:solidFill>
            <a:srgbClr val="FEF0F0"/>
          </a:solidFill>
          <a:ln w="12700">
            <a:solidFill>
              <a:srgbClr val="D0DD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06324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Dog → Cat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46320" y="331927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846320" y="3703320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84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11.4% error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58000" y="297180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58000" y="2971800"/>
            <a:ext cx="1920240" cy="1051560"/>
          </a:xfrm>
          <a:prstGeom prst="rect">
            <a:avLst/>
          </a:prstGeom>
          <a:solidFill>
            <a:srgbClr val="E8F8F5"/>
          </a:solidFill>
          <a:ln w="12700">
            <a:solidFill>
              <a:srgbClr val="D0DD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0" y="306324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A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True Dog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49440" y="331927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2,216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949440" y="3703320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84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88.6% recall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54880" y="425196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892040" y="4315968"/>
            <a:ext cx="3794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Off-diagonal values 283 vs 284 are nearly identical — confirming no directional bias between classes.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— Error Analysis</a:t>
            </a:r>
            <a:endParaRPr lang="en-US" sz="2600" dirty="0"/>
          </a:p>
        </p:txBody>
      </p:sp>
      <p:pic>
        <p:nvPicPr>
          <p:cNvPr id="5" name="Image 0" descr="/home/claude/detailed_error_analysi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11480" y="1261872"/>
            <a:ext cx="36576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736592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3: Misclassified samples (True: Cat → Predicted: Dog)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343400" y="1261872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Identified Failure Categories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1463040" cy="749808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0" y="1828800"/>
            <a:ext cx="1280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</a:t>
            </a:r>
            <a:r>
              <a:rPr lang="en-US" sz="9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lighting / shadows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16168" y="1737360"/>
            <a:ext cx="1463040" cy="749808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07608" y="1828800"/>
            <a:ext cx="1280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</a:t>
            </a:r>
            <a:r>
              <a:rPr lang="en-US" sz="9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Cluttered background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88936" y="1737360"/>
            <a:ext cx="1463040" cy="749808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0376" y="1828800"/>
            <a:ext cx="1280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</a:t>
            </a:r>
            <a:r>
              <a:rPr lang="en-US" sz="9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occlusion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43400" y="2651760"/>
            <a:ext cx="1463040" cy="749808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34840" y="2743200"/>
            <a:ext cx="1280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</a:t>
            </a:r>
            <a:r>
              <a:rPr lang="en-US" sz="9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Unusual posture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16168" y="2651760"/>
            <a:ext cx="1463040" cy="749808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07608" y="2743200"/>
            <a:ext cx="1280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</a:t>
            </a:r>
            <a:r>
              <a:rPr lang="en-US" sz="9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 blends with bg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488936" y="2651760"/>
            <a:ext cx="1463040" cy="749808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0376" y="2743200"/>
            <a:ext cx="1280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</a:t>
            </a:r>
            <a:r>
              <a:rPr lang="en-US" sz="9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Atypical breed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343400" y="3566160"/>
            <a:ext cx="1463040" cy="749808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34840" y="3657600"/>
            <a:ext cx="1280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</a:t>
            </a:r>
            <a:r>
              <a:rPr lang="en-US" sz="9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Extreme close-up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16168" y="3566160"/>
            <a:ext cx="1463040" cy="749808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07608" y="3657600"/>
            <a:ext cx="1280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</a:t>
            </a:r>
            <a:r>
              <a:rPr lang="en-US" sz="9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resolution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488936" y="3566160"/>
            <a:ext cx="1463040" cy="749808"/>
          </a:xfrm>
          <a:prstGeom prst="rect">
            <a:avLst/>
          </a:prstGeom>
          <a:solidFill>
            <a:srgbClr val="132533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0376" y="3657600"/>
            <a:ext cx="1280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07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</a:t>
            </a:r>
            <a:r>
              <a:rPr lang="en-US" sz="95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noise (mislabelled)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343400" y="466344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7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09 (label noise) sets an irreducible accuracy floor — unfixable by architecture alone.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Future Improvements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8988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56616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from scratch — no pretrained weights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CPU-only training limits epochs &amp; experiment scope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Overfitting visible from epoch 12 onwards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Dense (512) layer has 19M params with no dropout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noise in original Kaggle dataset (~1–2%)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resolution capped at 150×150 due to compute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26187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389888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79476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learning: VGG16 / ResNet / MobileNetV2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aggressive Dropout on Dense layers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Mixup / CutMix augmentation for occlusion robustness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Label-cleaning pass on training annotations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resolution input (224×224+) with GPU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mechanisms to focus on animal regions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4919472"/>
            <a:ext cx="8321040" cy="0"/>
          </a:xfrm>
          <a:prstGeom prst="rect">
            <a:avLst/>
          </a:prstGeom>
          <a:solidFill>
            <a:srgbClr val="F4F8F7"/>
          </a:solidFill>
          <a:ln w="12700">
            <a:solidFill>
              <a:srgbClr val="D0DD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709160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 from VGG16/ResNet alone is expected to push accuracy above 95% on this dataset.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Web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1188720" cy="11887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61872"/>
            <a:ext cx="1188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240280" y="1298448"/>
            <a:ext cx="6492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the Project Demo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40280" y="1783080"/>
            <a:ext cx="6492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web page walkthrough covering dataset overview, model architecture, training curves, and error analysis gallery.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7498080" cy="658368"/>
          </a:xfrm>
          <a:prstGeom prst="rect">
            <a:avLst/>
          </a:prstGeom>
          <a:solidFill>
            <a:srgbClr val="0E2535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14600"/>
            <a:ext cx="7498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</a:t>
            </a:r>
            <a:r>
              <a:rPr lang="en-US" sz="1400" b="1" u="sng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 action="ppaction://hlinkfile"/>
              </a:rPr>
              <a:t>https://youtu.be/lTcGDM3vsRc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364992"/>
            <a:ext cx="2377440" cy="1536192"/>
          </a:xfrm>
          <a:prstGeom prst="rect">
            <a:avLst/>
          </a:prstGeom>
          <a:solidFill>
            <a:srgbClr val="132533"/>
          </a:solidFill>
          <a:ln w="12700">
            <a:solidFill>
              <a:srgbClr val="1B4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3419856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34198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950208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2194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images from both classes, class distribution and split breakdown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0" y="3364992"/>
            <a:ext cx="2377440" cy="1536192"/>
          </a:xfrm>
          <a:prstGeom prst="rect">
            <a:avLst/>
          </a:prstGeom>
          <a:solidFill>
            <a:srgbClr val="132533"/>
          </a:solidFill>
          <a:ln w="12700">
            <a:solidFill>
              <a:srgbClr val="1B4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3419856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34198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950208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&amp; Training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4251960"/>
            <a:ext cx="2194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architecture breakdown and training accuracy / loss curves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0" y="3364992"/>
            <a:ext cx="2377440" cy="1536192"/>
          </a:xfrm>
          <a:prstGeom prst="rect">
            <a:avLst/>
          </a:prstGeom>
          <a:solidFill>
            <a:srgbClr val="132533"/>
          </a:solidFill>
          <a:ln w="12700">
            <a:solidFill>
              <a:srgbClr val="1B4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3419856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34198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3950208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Analysis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4251960"/>
            <a:ext cx="2194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Misclassified samples gallery with 9 failure category labels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" y="4828032"/>
            <a:ext cx="7498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the link above to view the full demo video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457200" cy="502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633472" cy="2377440"/>
          </a:xfrm>
          <a:prstGeom prst="rect">
            <a:avLst/>
          </a:prstGeom>
          <a:solidFill>
            <a:srgbClr val="132533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53312"/>
            <a:ext cx="26334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26334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2331720"/>
            <a:ext cx="241401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CNN trained from scratch on CPU. Optimisation (dropout + LR tuning) improved from 87% → 89%.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61872"/>
            <a:ext cx="2633472" cy="2377440"/>
          </a:xfrm>
          <a:prstGeom prst="rect">
            <a:avLst/>
          </a:prstGeom>
          <a:solidFill>
            <a:srgbClr val="132533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353312"/>
            <a:ext cx="26334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993392"/>
            <a:ext cx="26334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2331720"/>
            <a:ext cx="241401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Symmetric across both classes (283 vs 284 errors). No directional bias detected in the confusion matrix.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261872"/>
            <a:ext cx="2633472" cy="2377440"/>
          </a:xfrm>
          <a:prstGeom prst="rect">
            <a:avLst/>
          </a:prstGeom>
          <a:solidFill>
            <a:srgbClr val="132533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353312"/>
            <a:ext cx="26334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80760" y="1993392"/>
            <a:ext cx="26334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Categories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0488" y="2331720"/>
            <a:ext cx="241401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errors are explainable: lighting, occlusion, pose, resolution, and label noise — not random failures.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822192"/>
            <a:ext cx="8321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160520"/>
            <a:ext cx="8321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delivered a complete supervised learning pipeline — from raw data preparation through augmentation, model training, optimisation, and systematic error analysis. The final 89% accuracy is a solid baseline given CPU-only constraints and no pretrained weights. The modular team structure (Members A–D) kept handoffs clean and each stage independently verifiable. The most impactful next step is transfer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A"/>
          </a:solidFill>
          <a:ln w="12700">
            <a:solidFill>
              <a:srgbClr val="07111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029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CD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0" y="3474720"/>
            <a:ext cx="4572000" cy="1005840"/>
          </a:xfrm>
          <a:prstGeom prst="rect">
            <a:avLst/>
          </a:prstGeom>
          <a:solidFill>
            <a:srgbClr val="1325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0" y="3502152"/>
            <a:ext cx="45720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Dogs vs. Cats Image Classification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 of AI  ·  89% Accuracy  ·  TensorFlow / Keras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7710</Words>
  <Application>WPS 演示</Application>
  <PresentationFormat>On-screen Show (16:9)</PresentationFormat>
  <Paragraphs>612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Calibri</vt:lpstr>
      <vt:lpstr>Calibri</vt:lpstr>
      <vt:lpstr>Arial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Dogs vs. Cats Image Classification</dc:title>
  <dc:creator>PptxGenJS</dc:creator>
  <dc:subject>PptxGenJS Presentation</dc:subject>
  <cp:lastModifiedBy>理想</cp:lastModifiedBy>
  <cp:revision>3</cp:revision>
  <dcterms:created xsi:type="dcterms:W3CDTF">2026-03-20T06:15:00Z</dcterms:created>
  <dcterms:modified xsi:type="dcterms:W3CDTF">2026-03-20T06:27:10Z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CB806EE74A3E4979900B5D52EA49AFDA_12</vt:lpwstr>
  </property>
  <property fmtid="{D5CDD505-2E9C-101B-9397-08002B2CF9AE}" pid="3" name="KSOProductBuildVer">
    <vt:lpwstr>2052-12.1.0.25225</vt:lpwstr>
  </property>
</Properties>
</file>